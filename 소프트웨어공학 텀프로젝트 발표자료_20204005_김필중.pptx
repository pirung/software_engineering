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76" r:id="rId6"/>
    <p:sldId id="273" r:id="rId7"/>
    <p:sldId id="270" r:id="rId8"/>
    <p:sldId id="277" r:id="rId9"/>
    <p:sldId id="274" r:id="rId10"/>
    <p:sldId id="271" r:id="rId11"/>
    <p:sldId id="278" r:id="rId12"/>
    <p:sldId id="279" r:id="rId13"/>
    <p:sldId id="280" r:id="rId14"/>
    <p:sldId id="275" r:id="rId15"/>
    <p:sldId id="272" r:id="rId16"/>
    <p:sldId id="281" r:id="rId17"/>
    <p:sldId id="283" r:id="rId18"/>
    <p:sldId id="282" r:id="rId19"/>
    <p:sldId id="285" r:id="rId20"/>
    <p:sldId id="284" r:id="rId21"/>
    <p:sldId id="269" r:id="rId22"/>
  </p:sldIdLst>
  <p:sldSz cx="9144000" cy="5715000" type="screen16x10"/>
  <p:notesSz cx="6858000" cy="9144000"/>
  <p:embeddedFontLst>
    <p:embeddedFont>
      <p:font typeface="Open Sans Extrabold" panose="020B0906030804020204" pitchFamily="34" charset="0"/>
      <p:bold r:id="rId23"/>
    </p:embeddedFont>
    <p:embeddedFont>
      <p:font typeface="나눔스퀘어 Bold" panose="020B0600000101010101" pitchFamily="50" charset="-127"/>
      <p:bold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82" autoAdjust="0"/>
    <p:restoredTop sz="94660"/>
  </p:normalViewPr>
  <p:slideViewPr>
    <p:cSldViewPr>
      <p:cViewPr varScale="1">
        <p:scale>
          <a:sx n="129" d="100"/>
          <a:sy n="129" d="100"/>
        </p:scale>
        <p:origin x="1140" y="126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164968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25237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27694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79840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81759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61610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28745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36764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48201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85590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46954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838B1-EEE7-4C86-AA2D-D34EC1D66FBF}" type="datetimeFigureOut">
              <a:rPr lang="ko-KR" altLang="en-US" smtClean="0"/>
              <a:t>2021-12-10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49863-C939-4073-8CAD-7643A8CD5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64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766" y="2523675"/>
            <a:ext cx="667650" cy="6676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752" y="2523675"/>
            <a:ext cx="667650" cy="667650"/>
          </a:xfrm>
          <a:prstGeom prst="rect">
            <a:avLst/>
          </a:prstGeom>
        </p:spPr>
      </p:pic>
      <p:sp>
        <p:nvSpPr>
          <p:cNvPr id="2" name="모서리가 둥근 직사각형 1"/>
          <p:cNvSpPr/>
          <p:nvPr/>
        </p:nvSpPr>
        <p:spPr>
          <a:xfrm>
            <a:off x="2539752" y="2523675"/>
            <a:ext cx="4064496" cy="667650"/>
          </a:xfrm>
          <a:prstGeom prst="roundRect">
            <a:avLst>
              <a:gd name="adj" fmla="val 50000"/>
            </a:avLst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628472" y="1673462"/>
            <a:ext cx="1887055" cy="707886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소프트웨어 공학</a:t>
            </a:r>
            <a:b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</a:b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텀프로젝트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Open Sans Extrabold" panose="020B0906030804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30793" y="3269803"/>
            <a:ext cx="3682418" cy="307777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컴퓨터소프트웨어공학과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 / 20204005 /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김필중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Open Sans Extrabold" panose="020B0906030804020204" pitchFamily="34" charset="0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5931527" y="2523675"/>
            <a:ext cx="4064496" cy="667650"/>
          </a:xfrm>
          <a:prstGeom prst="roundRect">
            <a:avLst>
              <a:gd name="adj" fmla="val 50000"/>
            </a:avLst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488" y="1298530"/>
            <a:ext cx="1190178" cy="11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2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accel="74000" decel="26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0" presetClass="path" presetSubtype="0" accel="50000" decel="50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3.61111E-6 3.33333E-6 L 0.37934 0.00055 C 0.48993 0.00055 0.49289 0.23639 0.49289 0.42861 L 0.49289 0.85833 " pathEditMode="relative" rAng="0" ptsTypes="FfFF">
                                      <p:cBhvr>
                                        <p:cTn id="24" dur="3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35" y="4291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21600000">
                                      <p:cBhvr>
                                        <p:cTn id="26" dur="3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  <p:bldP spid="3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448" y="2706191"/>
            <a:ext cx="860332" cy="86033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053" y="2500718"/>
            <a:ext cx="713563" cy="71356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608" y="2706191"/>
            <a:ext cx="860332" cy="86033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376" y="2500718"/>
            <a:ext cx="713563" cy="71356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696" y="2500718"/>
            <a:ext cx="713563" cy="713563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251" y="2706191"/>
            <a:ext cx="860332" cy="860332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856" y="2500718"/>
            <a:ext cx="713563" cy="713563"/>
          </a:xfrm>
          <a:prstGeom prst="rect">
            <a:avLst/>
          </a:prstGeom>
        </p:spPr>
      </p:pic>
      <p:grpSp>
        <p:nvGrpSpPr>
          <p:cNvPr id="44" name="그룹 43"/>
          <p:cNvGrpSpPr/>
          <p:nvPr/>
        </p:nvGrpSpPr>
        <p:grpSpPr>
          <a:xfrm>
            <a:off x="2135830" y="2690364"/>
            <a:ext cx="604653" cy="1630532"/>
            <a:chOff x="2135830" y="2460396"/>
            <a:chExt cx="604653" cy="1630532"/>
          </a:xfrm>
        </p:grpSpPr>
        <p:sp>
          <p:nvSpPr>
            <p:cNvPr id="3" name="타원 2"/>
            <p:cNvSpPr/>
            <p:nvPr/>
          </p:nvSpPr>
          <p:spPr>
            <a:xfrm>
              <a:off x="2271022" y="2460396"/>
              <a:ext cx="334269" cy="33426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1</a:t>
              </a:r>
              <a:endParaRPr lang="ko-KR" altLang="en-US" sz="1400" dirty="0">
                <a:latin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grpSp>
          <p:nvGrpSpPr>
            <p:cNvPr id="40" name="그룹 39"/>
            <p:cNvGrpSpPr/>
            <p:nvPr/>
          </p:nvGrpSpPr>
          <p:grpSpPr>
            <a:xfrm>
              <a:off x="2135830" y="3033808"/>
              <a:ext cx="604653" cy="1057120"/>
              <a:chOff x="2135830" y="3033808"/>
              <a:chExt cx="604653" cy="1057120"/>
            </a:xfrm>
          </p:grpSpPr>
          <p:cxnSp>
            <p:nvCxnSpPr>
              <p:cNvPr id="22" name="직선 연결선 21"/>
              <p:cNvCxnSpPr/>
              <p:nvPr/>
            </p:nvCxnSpPr>
            <p:spPr>
              <a:xfrm>
                <a:off x="2438156" y="3033808"/>
                <a:ext cx="0" cy="687788"/>
              </a:xfrm>
              <a:prstGeom prst="line">
                <a:avLst/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2135830" y="3721596"/>
                <a:ext cx="604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Open Sans Extrabold" panose="020B0906030804020204" pitchFamily="34" charset="0"/>
                  </a:rPr>
                  <a:t>개요</a:t>
                </a:r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 Extrabold" panose="020B0906030804020204" pitchFamily="34" charset="0"/>
                  <a:cs typeface="Open Sans Extrabold" panose="020B0906030804020204" pitchFamily="34" charset="0"/>
                </a:endParaRPr>
              </a:p>
            </p:txBody>
          </p:sp>
        </p:grpSp>
      </p:grpSp>
      <p:grpSp>
        <p:nvGrpSpPr>
          <p:cNvPr id="46" name="그룹 45"/>
          <p:cNvGrpSpPr/>
          <p:nvPr/>
        </p:nvGrpSpPr>
        <p:grpSpPr>
          <a:xfrm>
            <a:off x="5016150" y="2690364"/>
            <a:ext cx="604653" cy="1630532"/>
            <a:chOff x="5016150" y="2460396"/>
            <a:chExt cx="604653" cy="1630532"/>
          </a:xfrm>
        </p:grpSpPr>
        <p:sp>
          <p:nvSpPr>
            <p:cNvPr id="19" name="타원 18"/>
            <p:cNvSpPr/>
            <p:nvPr/>
          </p:nvSpPr>
          <p:spPr>
            <a:xfrm>
              <a:off x="5151342" y="2460396"/>
              <a:ext cx="334269" cy="33426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3</a:t>
              </a:r>
              <a:endParaRPr lang="ko-KR" altLang="en-US" sz="1400" dirty="0">
                <a:latin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grpSp>
          <p:nvGrpSpPr>
            <p:cNvPr id="42" name="그룹 41"/>
            <p:cNvGrpSpPr/>
            <p:nvPr/>
          </p:nvGrpSpPr>
          <p:grpSpPr>
            <a:xfrm>
              <a:off x="5016150" y="3033808"/>
              <a:ext cx="604653" cy="1057120"/>
              <a:chOff x="5016150" y="3033808"/>
              <a:chExt cx="604653" cy="1057120"/>
            </a:xfrm>
          </p:grpSpPr>
          <p:cxnSp>
            <p:nvCxnSpPr>
              <p:cNvPr id="25" name="직선 연결선 24"/>
              <p:cNvCxnSpPr/>
              <p:nvPr/>
            </p:nvCxnSpPr>
            <p:spPr>
              <a:xfrm>
                <a:off x="5318475" y="3033808"/>
                <a:ext cx="0" cy="687788"/>
              </a:xfrm>
              <a:prstGeom prst="line">
                <a:avLst/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5016150" y="3721596"/>
                <a:ext cx="604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Open Sans Extrabold" panose="020B0906030804020204" pitchFamily="34" charset="0"/>
                  </a:rPr>
                  <a:t>계획</a:t>
                </a:r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 Extrabold" panose="020B0906030804020204" pitchFamily="34" charset="0"/>
                  <a:cs typeface="Open Sans Extrabold" panose="020B0906030804020204" pitchFamily="34" charset="0"/>
                </a:endParaRPr>
              </a:p>
            </p:txBody>
          </p:sp>
        </p:grpSp>
      </p:grpSp>
      <p:grpSp>
        <p:nvGrpSpPr>
          <p:cNvPr id="45" name="그룹 44"/>
          <p:cNvGrpSpPr/>
          <p:nvPr/>
        </p:nvGrpSpPr>
        <p:grpSpPr>
          <a:xfrm>
            <a:off x="3133668" y="1363552"/>
            <a:ext cx="1502334" cy="1661081"/>
            <a:chOff x="3133668" y="1133584"/>
            <a:chExt cx="1502334" cy="1661081"/>
          </a:xfrm>
        </p:grpSpPr>
        <p:sp>
          <p:nvSpPr>
            <p:cNvPr id="18" name="타원 17"/>
            <p:cNvSpPr/>
            <p:nvPr/>
          </p:nvSpPr>
          <p:spPr>
            <a:xfrm>
              <a:off x="3717699" y="2460396"/>
              <a:ext cx="334269" cy="33426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2</a:t>
              </a:r>
              <a:endParaRPr lang="ko-KR" altLang="en-US" sz="1400" dirty="0">
                <a:latin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grpSp>
          <p:nvGrpSpPr>
            <p:cNvPr id="41" name="그룹 40"/>
            <p:cNvGrpSpPr/>
            <p:nvPr/>
          </p:nvGrpSpPr>
          <p:grpSpPr>
            <a:xfrm>
              <a:off x="3133668" y="1133584"/>
              <a:ext cx="1502334" cy="1043552"/>
              <a:chOff x="3133668" y="1133584"/>
              <a:chExt cx="1502334" cy="1043552"/>
            </a:xfrm>
          </p:grpSpPr>
          <p:cxnSp>
            <p:nvCxnSpPr>
              <p:cNvPr id="27" name="직선 연결선 26"/>
              <p:cNvCxnSpPr/>
              <p:nvPr/>
            </p:nvCxnSpPr>
            <p:spPr>
              <a:xfrm>
                <a:off x="3884833" y="1489348"/>
                <a:ext cx="0" cy="687788"/>
              </a:xfrm>
              <a:prstGeom prst="line">
                <a:avLst/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3133668" y="1133584"/>
                <a:ext cx="1502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Open Sans Extrabold" panose="020B0906030804020204" pitchFamily="34" charset="0"/>
                  </a:rPr>
                  <a:t>개발 프로세스</a:t>
                </a:r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 Extrabold" panose="020B0906030804020204" pitchFamily="34" charset="0"/>
                  <a:cs typeface="Open Sans Extrabold" panose="020B0906030804020204" pitchFamily="34" charset="0"/>
                </a:endParaRPr>
              </a:p>
            </p:txBody>
          </p:sp>
        </p:grpSp>
      </p:grpSp>
      <p:grpSp>
        <p:nvGrpSpPr>
          <p:cNvPr id="47" name="그룹 46"/>
          <p:cNvGrpSpPr/>
          <p:nvPr/>
        </p:nvGrpSpPr>
        <p:grpSpPr>
          <a:xfrm>
            <a:off x="5746982" y="1363552"/>
            <a:ext cx="2023311" cy="1661081"/>
            <a:chOff x="5746982" y="1133584"/>
            <a:chExt cx="2023311" cy="1661081"/>
          </a:xfrm>
        </p:grpSpPr>
        <p:sp>
          <p:nvSpPr>
            <p:cNvPr id="20" name="타원 19"/>
            <p:cNvSpPr/>
            <p:nvPr/>
          </p:nvSpPr>
          <p:spPr>
            <a:xfrm>
              <a:off x="6591502" y="2460396"/>
              <a:ext cx="334269" cy="33426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4</a:t>
              </a:r>
              <a:endParaRPr lang="ko-KR" altLang="en-US" sz="1400" dirty="0">
                <a:latin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grpSp>
          <p:nvGrpSpPr>
            <p:cNvPr id="43" name="그룹 42"/>
            <p:cNvGrpSpPr/>
            <p:nvPr/>
          </p:nvGrpSpPr>
          <p:grpSpPr>
            <a:xfrm>
              <a:off x="5746982" y="1133584"/>
              <a:ext cx="2023311" cy="1043552"/>
              <a:chOff x="5746982" y="1133584"/>
              <a:chExt cx="2023311" cy="1043552"/>
            </a:xfrm>
          </p:grpSpPr>
          <p:cxnSp>
            <p:nvCxnSpPr>
              <p:cNvPr id="28" name="직선 연결선 27"/>
              <p:cNvCxnSpPr/>
              <p:nvPr/>
            </p:nvCxnSpPr>
            <p:spPr>
              <a:xfrm>
                <a:off x="6758636" y="1489348"/>
                <a:ext cx="0" cy="687788"/>
              </a:xfrm>
              <a:prstGeom prst="line">
                <a:avLst/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5746982" y="1133584"/>
                <a:ext cx="20233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Open Sans Extrabold" panose="020B0906030804020204" pitchFamily="34" charset="0"/>
                  </a:rPr>
                  <a:t>요구사항 분석</a:t>
                </a:r>
                <a:r>
                  <a:rPr lang="en-US" altLang="ko-KR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Open Sans Extrabold" panose="020B0906030804020204" pitchFamily="34" charset="0"/>
                  </a:rPr>
                  <a:t>/</a:t>
                </a:r>
                <a:r>
                  <a:rPr lang="ko-KR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Open Sans Extrabold" panose="020B0906030804020204" pitchFamily="34" charset="0"/>
                  </a:rPr>
                  <a:t>설계</a:t>
                </a:r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 Extrabold" panose="020B0906030804020204" pitchFamily="34" charset="0"/>
                  <a:cs typeface="Open Sans Extrabold" panose="020B0906030804020204" pitchFamily="34" charset="0"/>
                </a:endParaRPr>
              </a:p>
            </p:txBody>
          </p:sp>
        </p:grpSp>
      </p:grpSp>
      <p:sp>
        <p:nvSpPr>
          <p:cNvPr id="49" name="모서리가 둥근 직사각형 48"/>
          <p:cNvSpPr/>
          <p:nvPr/>
        </p:nvSpPr>
        <p:spPr>
          <a:xfrm>
            <a:off x="-1262909" y="2523675"/>
            <a:ext cx="4064496" cy="667650"/>
          </a:xfrm>
          <a:prstGeom prst="roundRect">
            <a:avLst>
              <a:gd name="adj" fmla="val 50000"/>
            </a:avLst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346003" y="2657445"/>
            <a:ext cx="1570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CONTENTS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0" y="-9239844"/>
            <a:ext cx="1182239" cy="8263071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1179079" y="-9239844"/>
            <a:ext cx="1144800" cy="8263071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2320719" y="-9239844"/>
            <a:ext cx="1144800" cy="8263071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34"/>
          <p:cNvSpPr/>
          <p:nvPr/>
        </p:nvSpPr>
        <p:spPr>
          <a:xfrm>
            <a:off x="3462359" y="-9239844"/>
            <a:ext cx="1144800" cy="8263071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4603999" y="-9239844"/>
            <a:ext cx="1144800" cy="8263071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5745639" y="-9239844"/>
            <a:ext cx="1144800" cy="8263071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6887279" y="-9239844"/>
            <a:ext cx="1144800" cy="8263071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8028916" y="-9239844"/>
            <a:ext cx="1144800" cy="8263071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4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0" y="0"/>
            <a:ext cx="4574232" cy="5715000"/>
            <a:chOff x="0" y="0"/>
            <a:chExt cx="4574232" cy="5715000"/>
          </a:xfrm>
        </p:grpSpPr>
        <p:sp>
          <p:nvSpPr>
            <p:cNvPr id="2" name="직사각형 1"/>
            <p:cNvSpPr/>
            <p:nvPr/>
          </p:nvSpPr>
          <p:spPr>
            <a:xfrm>
              <a:off x="0" y="0"/>
              <a:ext cx="4572000" cy="5715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3332094" y="1615362"/>
              <a:ext cx="1242138" cy="2484276"/>
            </a:xfrm>
            <a:prstGeom prst="rect">
              <a:avLst/>
            </a:prstGeom>
          </p:spPr>
        </p:pic>
      </p:grpSp>
      <p:grpSp>
        <p:nvGrpSpPr>
          <p:cNvPr id="4" name="그룹 3"/>
          <p:cNvGrpSpPr/>
          <p:nvPr/>
        </p:nvGrpSpPr>
        <p:grpSpPr>
          <a:xfrm>
            <a:off x="4572000" y="0"/>
            <a:ext cx="4572000" cy="5715000"/>
            <a:chOff x="4572000" y="0"/>
            <a:chExt cx="4572000" cy="5715000"/>
          </a:xfrm>
        </p:grpSpPr>
        <p:sp>
          <p:nvSpPr>
            <p:cNvPr id="33" name="직사각형 32"/>
            <p:cNvSpPr/>
            <p:nvPr/>
          </p:nvSpPr>
          <p:spPr>
            <a:xfrm>
              <a:off x="4572000" y="0"/>
              <a:ext cx="4572000" cy="5715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8" name="그림 37"/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>
            <a:xfrm>
              <a:off x="4572000" y="1615362"/>
              <a:ext cx="1242138" cy="2484276"/>
            </a:xfrm>
            <a:prstGeom prst="rect">
              <a:avLst/>
            </a:prstGeom>
          </p:spPr>
        </p:pic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8850" y="3289548"/>
            <a:ext cx="4657700" cy="46577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150" y="3386150"/>
            <a:ext cx="4657700" cy="4657700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0200" y="337220"/>
            <a:ext cx="1800200" cy="18002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110233" y="1345332"/>
            <a:ext cx="2880320" cy="30243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862" y="1615362"/>
            <a:ext cx="2484276" cy="24842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920218" y="2890599"/>
            <a:ext cx="13035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개요</a:t>
            </a:r>
            <a:endParaRPr lang="ko-KR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4061613" y="1871510"/>
            <a:ext cx="1025237" cy="1025237"/>
            <a:chOff x="3978811" y="-2330652"/>
            <a:chExt cx="1239906" cy="1239906"/>
          </a:xfrm>
        </p:grpSpPr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8811" y="-2330652"/>
              <a:ext cx="1239906" cy="1239906"/>
            </a:xfrm>
            <a:prstGeom prst="rect">
              <a:avLst/>
            </a:prstGeom>
          </p:spPr>
        </p:pic>
        <p:sp>
          <p:nvSpPr>
            <p:cNvPr id="48" name="타원 47"/>
            <p:cNvSpPr/>
            <p:nvPr/>
          </p:nvSpPr>
          <p:spPr>
            <a:xfrm>
              <a:off x="4301229" y="-2008234"/>
              <a:ext cx="595070" cy="59507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1</a:t>
              </a:r>
              <a:endParaRPr lang="ko-KR" altLang="en-US" sz="2400" dirty="0">
                <a:latin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49081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-10800000">
                                      <p:cBhvr>
                                        <p:cTn id="6" dur="2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10800000">
                                      <p:cBhvr>
                                        <p:cTn id="8" dur="2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2" presetClass="exit" presetSubtype="1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6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8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2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7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7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1916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개요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pic>
        <p:nvPicPr>
          <p:cNvPr id="3" name="그림 2" descr="테이블이(가) 표시된 사진&#10;&#10;자동 생성된 설명">
            <a:extLst>
              <a:ext uri="{FF2B5EF4-FFF2-40B4-BE49-F238E27FC236}">
                <a16:creationId xmlns:a16="http://schemas.microsoft.com/office/drawing/2014/main" id="{DBA03D00-C676-4D59-B08B-97F7812DF3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66" y="982258"/>
            <a:ext cx="8125959" cy="1247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320759-8789-4E9C-9F1C-08EDCE5379EE}"/>
              </a:ext>
            </a:extLst>
          </p:cNvPr>
          <p:cNvSpPr txBox="1"/>
          <p:nvPr/>
        </p:nvSpPr>
        <p:spPr>
          <a:xfrm>
            <a:off x="2374745" y="2672834"/>
            <a:ext cx="413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기간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: 21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10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월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일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 ~ 21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11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월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30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65911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1916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개요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74ECBF-F23B-4A30-999A-3C6534456DC2}"/>
              </a:ext>
            </a:extLst>
          </p:cNvPr>
          <p:cNvSpPr txBox="1"/>
          <p:nvPr/>
        </p:nvSpPr>
        <p:spPr>
          <a:xfrm>
            <a:off x="589380" y="1273324"/>
            <a:ext cx="549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-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준공사진 조작 가능성이 있으므로 실시간 점검 필요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86CC2F-7F7A-4E28-A213-83F50D62BD3D}"/>
              </a:ext>
            </a:extLst>
          </p:cNvPr>
          <p:cNvSpPr txBox="1"/>
          <p:nvPr/>
        </p:nvSpPr>
        <p:spPr>
          <a:xfrm>
            <a:off x="589380" y="1841795"/>
            <a:ext cx="549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-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시간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공간 제약이 없이 점검 가능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B3E6F1-71D3-4A6D-B96F-8D0072FB424A}"/>
              </a:ext>
            </a:extLst>
          </p:cNvPr>
          <p:cNvSpPr txBox="1"/>
          <p:nvPr/>
        </p:nvSpPr>
        <p:spPr>
          <a:xfrm>
            <a:off x="589380" y="2410266"/>
            <a:ext cx="549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-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사고를 줄일 수 있음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7479F-1982-4E90-9477-D2BA761FF99A}"/>
              </a:ext>
            </a:extLst>
          </p:cNvPr>
          <p:cNvSpPr txBox="1"/>
          <p:nvPr/>
        </p:nvSpPr>
        <p:spPr>
          <a:xfrm>
            <a:off x="589380" y="2983214"/>
            <a:ext cx="549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-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 감독관이 직접 방문을 하지 않아도 점검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45226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0" y="0"/>
            <a:ext cx="4574232" cy="5715000"/>
            <a:chOff x="0" y="0"/>
            <a:chExt cx="4574232" cy="5715000"/>
          </a:xfrm>
        </p:grpSpPr>
        <p:sp>
          <p:nvSpPr>
            <p:cNvPr id="2" name="직사각형 1"/>
            <p:cNvSpPr/>
            <p:nvPr/>
          </p:nvSpPr>
          <p:spPr>
            <a:xfrm>
              <a:off x="0" y="0"/>
              <a:ext cx="4572000" cy="5715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3332094" y="1615362"/>
              <a:ext cx="1242138" cy="2484276"/>
            </a:xfrm>
            <a:prstGeom prst="rect">
              <a:avLst/>
            </a:prstGeom>
          </p:spPr>
        </p:pic>
      </p:grpSp>
      <p:grpSp>
        <p:nvGrpSpPr>
          <p:cNvPr id="4" name="그룹 3"/>
          <p:cNvGrpSpPr/>
          <p:nvPr/>
        </p:nvGrpSpPr>
        <p:grpSpPr>
          <a:xfrm>
            <a:off x="4572000" y="0"/>
            <a:ext cx="4572000" cy="5715000"/>
            <a:chOff x="4572000" y="0"/>
            <a:chExt cx="4572000" cy="5715000"/>
          </a:xfrm>
        </p:grpSpPr>
        <p:sp>
          <p:nvSpPr>
            <p:cNvPr id="33" name="직사각형 32"/>
            <p:cNvSpPr/>
            <p:nvPr/>
          </p:nvSpPr>
          <p:spPr>
            <a:xfrm>
              <a:off x="4572000" y="0"/>
              <a:ext cx="4572000" cy="5715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8" name="그림 37"/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>
            <a:xfrm>
              <a:off x="4572000" y="1615362"/>
              <a:ext cx="1242138" cy="2484276"/>
            </a:xfrm>
            <a:prstGeom prst="rect">
              <a:avLst/>
            </a:prstGeom>
          </p:spPr>
        </p:pic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8850" y="3289548"/>
            <a:ext cx="4657700" cy="46577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150" y="3386150"/>
            <a:ext cx="4657700" cy="4657700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0200" y="337220"/>
            <a:ext cx="1800200" cy="18002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110233" y="1345332"/>
            <a:ext cx="2880320" cy="30243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862" y="1615362"/>
            <a:ext cx="2484276" cy="24842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724383" y="2890599"/>
            <a:ext cx="3695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개발 프로세스</a:t>
            </a:r>
            <a:endParaRPr lang="ko-KR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4061613" y="1871510"/>
            <a:ext cx="1025237" cy="1025237"/>
            <a:chOff x="3978811" y="-2330652"/>
            <a:chExt cx="1239906" cy="1239906"/>
          </a:xfrm>
        </p:grpSpPr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8811" y="-2330652"/>
              <a:ext cx="1239906" cy="1239906"/>
            </a:xfrm>
            <a:prstGeom prst="rect">
              <a:avLst/>
            </a:prstGeom>
          </p:spPr>
        </p:pic>
        <p:sp>
          <p:nvSpPr>
            <p:cNvPr id="48" name="타원 47"/>
            <p:cNvSpPr/>
            <p:nvPr/>
          </p:nvSpPr>
          <p:spPr>
            <a:xfrm>
              <a:off x="4301229" y="-2008234"/>
              <a:ext cx="595070" cy="59507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2</a:t>
              </a:r>
              <a:endParaRPr lang="ko-KR" altLang="en-US" sz="2400" dirty="0">
                <a:latin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38441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-10800000">
                                      <p:cBhvr>
                                        <p:cTn id="6" dur="2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10800000">
                                      <p:cBhvr>
                                        <p:cTn id="8" dur="2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2" presetClass="exit" presetSubtype="1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6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8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2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7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7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개발 프로세스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BD12AB-C117-44E1-9582-7579183E515C}"/>
              </a:ext>
            </a:extLst>
          </p:cNvPr>
          <p:cNvSpPr txBox="1"/>
          <p:nvPr/>
        </p:nvSpPr>
        <p:spPr>
          <a:xfrm>
            <a:off x="585416" y="1057300"/>
            <a:ext cx="549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-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 애자일 프로세스 모델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: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스크럼</a:t>
            </a:r>
            <a:endParaRPr lang="ko-KR" altLang="en-US" dirty="0"/>
          </a:p>
        </p:txBody>
      </p:sp>
      <p:pic>
        <p:nvPicPr>
          <p:cNvPr id="5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5D58F5C6-DFFA-4935-9D03-D9762DF4DD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72" y="1445783"/>
            <a:ext cx="3506065" cy="29427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EC067F1-2608-4304-89B6-1D40DE107967}"/>
              </a:ext>
            </a:extLst>
          </p:cNvPr>
          <p:cNvSpPr txBox="1"/>
          <p:nvPr/>
        </p:nvSpPr>
        <p:spPr>
          <a:xfrm>
            <a:off x="1284582" y="4348664"/>
            <a:ext cx="155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제품 기능 목록</a:t>
            </a:r>
            <a:endParaRPr lang="ko-KR" altLang="en-US" dirty="0"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98F2F7A1-4533-46F5-8716-38D8BF30E8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449" y="1050647"/>
            <a:ext cx="2411646" cy="33379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46683DE-BD3B-4CDC-9DFD-9DF71A3A1D96}"/>
              </a:ext>
            </a:extLst>
          </p:cNvPr>
          <p:cNvSpPr txBox="1"/>
          <p:nvPr/>
        </p:nvSpPr>
        <p:spPr>
          <a:xfrm>
            <a:off x="5300590" y="4348664"/>
            <a:ext cx="213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스프린트 구현 목록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54328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개발 프로세스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BD12AB-C117-44E1-9582-7579183E515C}"/>
              </a:ext>
            </a:extLst>
          </p:cNvPr>
          <p:cNvSpPr txBox="1"/>
          <p:nvPr/>
        </p:nvSpPr>
        <p:spPr>
          <a:xfrm>
            <a:off x="585416" y="1057300"/>
            <a:ext cx="549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-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 애자일 프로세스 모델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: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스크럼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9DA2A0-F4DE-4001-90E2-DC6B9A455B34}"/>
              </a:ext>
            </a:extLst>
          </p:cNvPr>
          <p:cNvSpPr txBox="1"/>
          <p:nvPr/>
        </p:nvSpPr>
        <p:spPr>
          <a:xfrm>
            <a:off x="1504689" y="3001516"/>
            <a:ext cx="155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소멸 차트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8BF6D1-A5CE-4001-B423-D32B89E091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8" y="1509205"/>
            <a:ext cx="3209925" cy="1419225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3BB3C70-BFD0-443B-9F31-52DD20003840}"/>
              </a:ext>
            </a:extLst>
          </p:cNvPr>
          <p:cNvGrpSpPr/>
          <p:nvPr/>
        </p:nvGrpSpPr>
        <p:grpSpPr>
          <a:xfrm>
            <a:off x="4022705" y="1570772"/>
            <a:ext cx="4363452" cy="3237115"/>
            <a:chOff x="4022705" y="1570772"/>
            <a:chExt cx="4363452" cy="3237115"/>
          </a:xfrm>
        </p:grpSpPr>
        <p:pic>
          <p:nvPicPr>
            <p:cNvPr id="6" name="그림 5" descr="바닥, 실내, 아이, 사람이(가) 표시된 사진&#10;&#10;자동 생성된 설명">
              <a:extLst>
                <a:ext uri="{FF2B5EF4-FFF2-40B4-BE49-F238E27FC236}">
                  <a16:creationId xmlns:a16="http://schemas.microsoft.com/office/drawing/2014/main" id="{DFC5036E-DBE6-4C95-937F-CBC0FC039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2705" y="1570772"/>
              <a:ext cx="4363452" cy="187316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29302CD-1DE1-41C0-83CB-2EF9ECBE373D}"/>
                </a:ext>
              </a:extLst>
            </p:cNvPr>
            <p:cNvSpPr txBox="1"/>
            <p:nvPr/>
          </p:nvSpPr>
          <p:spPr>
            <a:xfrm>
              <a:off x="4022705" y="3567749"/>
              <a:ext cx="1559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정해진 시간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X</a:t>
              </a:r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DC3B581-76A5-496B-B9B9-981CC09814A7}"/>
                </a:ext>
              </a:extLst>
            </p:cNvPr>
            <p:cNvSpPr txBox="1"/>
            <p:nvPr/>
          </p:nvSpPr>
          <p:spPr>
            <a:xfrm>
              <a:off x="4022705" y="3973624"/>
              <a:ext cx="1559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15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분 이내</a:t>
              </a:r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BCC706-E2D8-4762-A1A2-8976FCEC9174}"/>
                </a:ext>
              </a:extLst>
            </p:cNvPr>
            <p:cNvSpPr txBox="1"/>
            <p:nvPr/>
          </p:nvSpPr>
          <p:spPr>
            <a:xfrm>
              <a:off x="4022705" y="4438555"/>
              <a:ext cx="1559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모든 팀원 참석</a:t>
              </a:r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3181C7-3884-44B9-B69B-C722577D830A}"/>
                </a:ext>
              </a:extLst>
            </p:cNvPr>
            <p:cNvSpPr txBox="1"/>
            <p:nvPr/>
          </p:nvSpPr>
          <p:spPr>
            <a:xfrm>
              <a:off x="5677070" y="3567749"/>
              <a:ext cx="1559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어제 한일 발표</a:t>
              </a:r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55738EE-9E83-47B4-BAC1-364502C27C7A}"/>
                </a:ext>
              </a:extLst>
            </p:cNvPr>
            <p:cNvSpPr txBox="1"/>
            <p:nvPr/>
          </p:nvSpPr>
          <p:spPr>
            <a:xfrm>
              <a:off x="5677070" y="4000476"/>
              <a:ext cx="1559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오늘 </a:t>
              </a:r>
              <a:r>
                <a:rPr lang="ko-KR" alt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할일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 발표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361166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0" y="0"/>
            <a:ext cx="4574232" cy="5715000"/>
            <a:chOff x="0" y="0"/>
            <a:chExt cx="4574232" cy="5715000"/>
          </a:xfrm>
        </p:grpSpPr>
        <p:sp>
          <p:nvSpPr>
            <p:cNvPr id="2" name="직사각형 1"/>
            <p:cNvSpPr/>
            <p:nvPr/>
          </p:nvSpPr>
          <p:spPr>
            <a:xfrm>
              <a:off x="0" y="0"/>
              <a:ext cx="4572000" cy="5715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3332094" y="1615362"/>
              <a:ext cx="1242138" cy="2484276"/>
            </a:xfrm>
            <a:prstGeom prst="rect">
              <a:avLst/>
            </a:prstGeom>
          </p:spPr>
        </p:pic>
      </p:grpSp>
      <p:grpSp>
        <p:nvGrpSpPr>
          <p:cNvPr id="4" name="그룹 3"/>
          <p:cNvGrpSpPr/>
          <p:nvPr/>
        </p:nvGrpSpPr>
        <p:grpSpPr>
          <a:xfrm>
            <a:off x="4572000" y="0"/>
            <a:ext cx="4572000" cy="5715000"/>
            <a:chOff x="4572000" y="0"/>
            <a:chExt cx="4572000" cy="5715000"/>
          </a:xfrm>
        </p:grpSpPr>
        <p:sp>
          <p:nvSpPr>
            <p:cNvPr id="33" name="직사각형 32"/>
            <p:cNvSpPr/>
            <p:nvPr/>
          </p:nvSpPr>
          <p:spPr>
            <a:xfrm>
              <a:off x="4572000" y="0"/>
              <a:ext cx="4572000" cy="5715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8" name="그림 37"/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>
            <a:xfrm>
              <a:off x="4572000" y="1615362"/>
              <a:ext cx="1242138" cy="2484276"/>
            </a:xfrm>
            <a:prstGeom prst="rect">
              <a:avLst/>
            </a:prstGeom>
          </p:spPr>
        </p:pic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8850" y="3289548"/>
            <a:ext cx="4657700" cy="46577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150" y="3386150"/>
            <a:ext cx="4657700" cy="4657700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0200" y="337220"/>
            <a:ext cx="1800200" cy="18002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110233" y="1345332"/>
            <a:ext cx="2880320" cy="30243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862" y="1615362"/>
            <a:ext cx="2484276" cy="24842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920224" y="2890599"/>
            <a:ext cx="13035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계획</a:t>
            </a:r>
            <a:endParaRPr lang="ko-KR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4061613" y="1871510"/>
            <a:ext cx="1025237" cy="1025237"/>
            <a:chOff x="3978811" y="-2330652"/>
            <a:chExt cx="1239906" cy="1239906"/>
          </a:xfrm>
        </p:grpSpPr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8811" y="-2330652"/>
              <a:ext cx="1239906" cy="1239906"/>
            </a:xfrm>
            <a:prstGeom prst="rect">
              <a:avLst/>
            </a:prstGeom>
          </p:spPr>
        </p:pic>
        <p:sp>
          <p:nvSpPr>
            <p:cNvPr id="48" name="타원 47"/>
            <p:cNvSpPr/>
            <p:nvPr/>
          </p:nvSpPr>
          <p:spPr>
            <a:xfrm>
              <a:off x="4301229" y="-2008234"/>
              <a:ext cx="595070" cy="59507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3</a:t>
              </a:r>
              <a:endParaRPr lang="ko-KR" altLang="en-US" sz="2400" dirty="0">
                <a:latin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00137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-10800000">
                                      <p:cBhvr>
                                        <p:cTn id="6" dur="2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10800000">
                                      <p:cBhvr>
                                        <p:cTn id="8" dur="2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2" presetClass="exit" presetSubtype="1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6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8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2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7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7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3.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계획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pic>
        <p:nvPicPr>
          <p:cNvPr id="3" name="그림 2" descr="텍스트, 화장품이(가) 표시된 사진&#10;&#10;자동 생성된 설명">
            <a:extLst>
              <a:ext uri="{FF2B5EF4-FFF2-40B4-BE49-F238E27FC236}">
                <a16:creationId xmlns:a16="http://schemas.microsoft.com/office/drawing/2014/main" id="{067C2E24-DDE4-4D4F-93FA-8FBE2624EF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16" y="885809"/>
            <a:ext cx="2137420" cy="21374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7F5FE6-C0A8-4D56-830D-02CBDBB37EA5}"/>
              </a:ext>
            </a:extLst>
          </p:cNvPr>
          <p:cNvSpPr txBox="1"/>
          <p:nvPr/>
        </p:nvSpPr>
        <p:spPr>
          <a:xfrm>
            <a:off x="845913" y="3136037"/>
            <a:ext cx="155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법적 타당성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4AAC1E1-F1F6-425C-AF25-4B1AD3D287A0}"/>
              </a:ext>
            </a:extLst>
          </p:cNvPr>
          <p:cNvGrpSpPr/>
          <p:nvPr/>
        </p:nvGrpSpPr>
        <p:grpSpPr>
          <a:xfrm>
            <a:off x="3535680" y="1954519"/>
            <a:ext cx="2072640" cy="1904825"/>
            <a:chOff x="3535680" y="1954519"/>
            <a:chExt cx="2072640" cy="190482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3ABE139-A3CF-40F7-B402-F7CA6FA21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5680" y="1954519"/>
              <a:ext cx="2072640" cy="138074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D207B5-2F0C-4985-81AD-ACFB90752DD5}"/>
                </a:ext>
              </a:extLst>
            </p:cNvPr>
            <p:cNvSpPr txBox="1"/>
            <p:nvPr/>
          </p:nvSpPr>
          <p:spPr>
            <a:xfrm>
              <a:off x="3792387" y="3490012"/>
              <a:ext cx="1559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기술적 타당성</a:t>
              </a:r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A840797-7B87-4CDE-A47F-E8024FAC8B1C}"/>
              </a:ext>
            </a:extLst>
          </p:cNvPr>
          <p:cNvGrpSpPr/>
          <p:nvPr/>
        </p:nvGrpSpPr>
        <p:grpSpPr>
          <a:xfrm>
            <a:off x="5608320" y="992065"/>
            <a:ext cx="2143125" cy="2143125"/>
            <a:chOff x="5667298" y="925810"/>
            <a:chExt cx="2143125" cy="214312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ADB2598-FC30-4F23-BFF2-FC2942C96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7298" y="925810"/>
              <a:ext cx="2143125" cy="214312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19ECB0-07B4-4238-AF73-ED950F0DF34B}"/>
                </a:ext>
              </a:extLst>
            </p:cNvPr>
            <p:cNvSpPr txBox="1"/>
            <p:nvPr/>
          </p:nvSpPr>
          <p:spPr>
            <a:xfrm>
              <a:off x="5959247" y="2521695"/>
              <a:ext cx="1559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Open Sans Extrabold" panose="020B0906030804020204" pitchFamily="34" charset="0"/>
                </a:rPr>
                <a:t>경제적 타당성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484245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32944826-2635-4917-B794-5F5A2F1F2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198" y="1060431"/>
            <a:ext cx="4139836" cy="3672327"/>
          </a:xfrm>
          <a:prstGeom prst="rect">
            <a:avLst/>
          </a:prstGeom>
        </p:spPr>
      </p:pic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B65B7C57-D577-46EE-82F5-0890E9EFB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198" y="982242"/>
            <a:ext cx="4544059" cy="3750516"/>
          </a:xfrm>
          <a:prstGeom prst="rect">
            <a:avLst/>
          </a:prstGeom>
        </p:spPr>
      </p:pic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3.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계획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DBA78C91-2B48-4BBA-B57F-70BC737164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02" y="1094227"/>
            <a:ext cx="3733134" cy="342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770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3.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계획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CFC4C38-BA8B-46FC-9518-D76C7BA864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125" y="1201316"/>
            <a:ext cx="6039693" cy="31913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D03BA3-9486-4876-8D56-D75281DDE642}"/>
              </a:ext>
            </a:extLst>
          </p:cNvPr>
          <p:cNvSpPr txBox="1"/>
          <p:nvPr/>
        </p:nvSpPr>
        <p:spPr>
          <a:xfrm>
            <a:off x="3923928" y="897634"/>
            <a:ext cx="94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WBS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619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3.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계획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D03BA3-9486-4876-8D56-D75281DDE642}"/>
              </a:ext>
            </a:extLst>
          </p:cNvPr>
          <p:cNvSpPr txBox="1"/>
          <p:nvPr/>
        </p:nvSpPr>
        <p:spPr>
          <a:xfrm>
            <a:off x="3923928" y="89763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간트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 차트</a:t>
            </a:r>
            <a:endParaRPr lang="ko-KR" altLang="en-US" dirty="0"/>
          </a:p>
        </p:txBody>
      </p:sp>
      <p:pic>
        <p:nvPicPr>
          <p:cNvPr id="4" name="그림 3" descr="테이블이(가) 표시된 사진&#10;&#10;자동 생성된 설명">
            <a:extLst>
              <a:ext uri="{FF2B5EF4-FFF2-40B4-BE49-F238E27FC236}">
                <a16:creationId xmlns:a16="http://schemas.microsoft.com/office/drawing/2014/main" id="{73229BD8-541A-4BBC-96FC-687AD4EBD7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876" y="1235384"/>
            <a:ext cx="6049219" cy="362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431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0" y="0"/>
            <a:ext cx="4574232" cy="5715000"/>
            <a:chOff x="0" y="0"/>
            <a:chExt cx="4574232" cy="5715000"/>
          </a:xfrm>
        </p:grpSpPr>
        <p:sp>
          <p:nvSpPr>
            <p:cNvPr id="2" name="직사각형 1"/>
            <p:cNvSpPr/>
            <p:nvPr/>
          </p:nvSpPr>
          <p:spPr>
            <a:xfrm>
              <a:off x="0" y="0"/>
              <a:ext cx="4572000" cy="5715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3332094" y="1615362"/>
              <a:ext cx="1242138" cy="2484276"/>
            </a:xfrm>
            <a:prstGeom prst="rect">
              <a:avLst/>
            </a:prstGeom>
          </p:spPr>
        </p:pic>
      </p:grpSp>
      <p:grpSp>
        <p:nvGrpSpPr>
          <p:cNvPr id="4" name="그룹 3"/>
          <p:cNvGrpSpPr/>
          <p:nvPr/>
        </p:nvGrpSpPr>
        <p:grpSpPr>
          <a:xfrm>
            <a:off x="4572000" y="0"/>
            <a:ext cx="4572000" cy="5715000"/>
            <a:chOff x="4572000" y="0"/>
            <a:chExt cx="4572000" cy="5715000"/>
          </a:xfrm>
        </p:grpSpPr>
        <p:sp>
          <p:nvSpPr>
            <p:cNvPr id="33" name="직사각형 32"/>
            <p:cNvSpPr/>
            <p:nvPr/>
          </p:nvSpPr>
          <p:spPr>
            <a:xfrm>
              <a:off x="4572000" y="0"/>
              <a:ext cx="4572000" cy="5715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8" name="그림 37"/>
            <p:cNvPicPr>
              <a:picLocks noChangeAspect="1"/>
            </p:cNvPicPr>
            <p:nvPr/>
          </p:nvPicPr>
          <p:blipFill rotWithShape="1"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>
            <a:xfrm>
              <a:off x="4572000" y="1615362"/>
              <a:ext cx="1242138" cy="2484276"/>
            </a:xfrm>
            <a:prstGeom prst="rect">
              <a:avLst/>
            </a:prstGeom>
          </p:spPr>
        </p:pic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8850" y="3289548"/>
            <a:ext cx="4657700" cy="46577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150" y="3386150"/>
            <a:ext cx="4657700" cy="4657700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0200" y="337220"/>
            <a:ext cx="1800200" cy="18002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110233" y="1345332"/>
            <a:ext cx="2880320" cy="30243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862" y="1615362"/>
            <a:ext cx="2484276" cy="24842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589731" y="2890599"/>
            <a:ext cx="39645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요구사항 분석</a:t>
            </a:r>
            <a:r>
              <a:rPr lang="en-US" altLang="ko-KR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/</a:t>
            </a:r>
            <a:br>
              <a:rPr lang="en-US" altLang="ko-KR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</a:br>
            <a:r>
              <a:rPr lang="ko-KR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설계</a:t>
            </a:r>
            <a:endParaRPr lang="ko-KR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4061613" y="1871510"/>
            <a:ext cx="1025237" cy="1025237"/>
            <a:chOff x="3978811" y="-2330652"/>
            <a:chExt cx="1239906" cy="1239906"/>
          </a:xfrm>
        </p:grpSpPr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8811" y="-2330652"/>
              <a:ext cx="1239906" cy="1239906"/>
            </a:xfrm>
            <a:prstGeom prst="rect">
              <a:avLst/>
            </a:prstGeom>
          </p:spPr>
        </p:pic>
        <p:sp>
          <p:nvSpPr>
            <p:cNvPr id="48" name="타원 47"/>
            <p:cNvSpPr/>
            <p:nvPr/>
          </p:nvSpPr>
          <p:spPr>
            <a:xfrm>
              <a:off x="4301229" y="-2008234"/>
              <a:ext cx="595070" cy="59507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4</a:t>
              </a:r>
              <a:endParaRPr lang="ko-KR" altLang="en-US" sz="2400" dirty="0">
                <a:latin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5829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-10800000">
                                      <p:cBhvr>
                                        <p:cTn id="6" dur="2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10800000">
                                      <p:cBhvr>
                                        <p:cTn id="8" dur="2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2" presetClass="exit" presetSubtype="1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6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8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2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8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7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8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7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E2A765EA-3DC8-4169-BF78-F98230B61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172" y="3074653"/>
            <a:ext cx="3821106" cy="1680073"/>
          </a:xfrm>
          <a:prstGeom prst="rect">
            <a:avLst/>
          </a:prstGeom>
        </p:spPr>
      </p:pic>
      <p:pic>
        <p:nvPicPr>
          <p:cNvPr id="5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09BFEFE4-0973-4AA8-BED3-9D34207EC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344" y="960274"/>
            <a:ext cx="4278899" cy="2226637"/>
          </a:xfrm>
          <a:prstGeom prst="rect">
            <a:avLst/>
          </a:prstGeom>
        </p:spPr>
      </p:pic>
      <p:pic>
        <p:nvPicPr>
          <p:cNvPr id="3" name="그림 2" descr="테이블이(가) 표시된 사진&#10;&#10;자동 생성된 설명">
            <a:extLst>
              <a:ext uri="{FF2B5EF4-FFF2-40B4-BE49-F238E27FC236}">
                <a16:creationId xmlns:a16="http://schemas.microsoft.com/office/drawing/2014/main" id="{EE4710ED-5BD4-4939-B5F9-B95AA6568D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71" y="977560"/>
            <a:ext cx="3017037" cy="3968172"/>
          </a:xfrm>
          <a:prstGeom prst="rect">
            <a:avLst/>
          </a:prstGeom>
        </p:spPr>
      </p:pic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4.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요구사항 분석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95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9A81C69-7DBA-43DF-BC5D-75F855A72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7" y="985292"/>
            <a:ext cx="5316750" cy="31608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525A1AE-0416-4DF6-98CE-3A29D5850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84" y="1345332"/>
            <a:ext cx="4009466" cy="2212203"/>
          </a:xfrm>
          <a:prstGeom prst="rect">
            <a:avLst/>
          </a:prstGeom>
        </p:spPr>
      </p:pic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4.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요구사항 분석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9790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4.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설계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AF09F13-A977-48D7-AAF7-97564CAFD3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132" y="1369280"/>
            <a:ext cx="6258798" cy="32961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C29651-A30A-45BE-93C4-3C6F6938F5EE}"/>
              </a:ext>
            </a:extLst>
          </p:cNvPr>
          <p:cNvSpPr txBox="1"/>
          <p:nvPr/>
        </p:nvSpPr>
        <p:spPr>
          <a:xfrm>
            <a:off x="519896" y="99994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모듈 설계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470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7CC2AE6A-38CD-4E09-9799-CBE49D236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57" y="1057300"/>
            <a:ext cx="6049219" cy="33056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A0AE07F-E291-42F5-AC88-6C3D697E3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913485"/>
            <a:ext cx="6068272" cy="3038899"/>
          </a:xfrm>
          <a:prstGeom prst="rect">
            <a:avLst/>
          </a:prstGeom>
        </p:spPr>
      </p:pic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4.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설계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590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4.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설계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F5C27D2-48E8-4025-BC02-705639EB4D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627" y="1600024"/>
            <a:ext cx="6420746" cy="25149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C3C167-4D15-4F61-935C-AD0398D1AC79}"/>
              </a:ext>
            </a:extLst>
          </p:cNvPr>
          <p:cNvSpPr txBox="1"/>
          <p:nvPr/>
        </p:nvSpPr>
        <p:spPr>
          <a:xfrm>
            <a:off x="519896" y="999948"/>
            <a:ext cx="1747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아키텍쳐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 설계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98840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CB92E2-430D-4311-9213-D368F8513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452" y="1095129"/>
            <a:ext cx="5934903" cy="3524742"/>
          </a:xfrm>
          <a:prstGeom prst="rect">
            <a:avLst/>
          </a:prstGeom>
        </p:spPr>
      </p:pic>
      <p:sp>
        <p:nvSpPr>
          <p:cNvPr id="26" name="모서리가 둥근 직사각형 25"/>
          <p:cNvSpPr/>
          <p:nvPr/>
        </p:nvSpPr>
        <p:spPr>
          <a:xfrm>
            <a:off x="-3200349" y="-521008"/>
            <a:ext cx="3171774" cy="52100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7" y="427314"/>
            <a:ext cx="395598" cy="395598"/>
          </a:xfrm>
          <a:prstGeom prst="rect">
            <a:avLst/>
          </a:prstGeom>
        </p:spPr>
      </p:pic>
      <p:sp>
        <p:nvSpPr>
          <p:cNvPr id="29" name="모서리가 둥근 직사각형 28"/>
          <p:cNvSpPr/>
          <p:nvPr/>
        </p:nvSpPr>
        <p:spPr>
          <a:xfrm>
            <a:off x="377066" y="42066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27314"/>
            <a:ext cx="395598" cy="39559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3215" y="440088"/>
            <a:ext cx="2060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cs typeface="Open Sans Extrabold" panose="020B0906030804020204" pitchFamily="34" charset="0"/>
              </a:rPr>
              <a:t>4.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설계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6" y="37658"/>
            <a:ext cx="365958" cy="36595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76" y="4952384"/>
            <a:ext cx="395598" cy="395598"/>
          </a:xfrm>
          <a:prstGeom prst="rect">
            <a:avLst/>
          </a:prstGeom>
        </p:spPr>
      </p:pic>
      <p:sp>
        <p:nvSpPr>
          <p:cNvPr id="43" name="모서리가 둥근 직사각형 42"/>
          <p:cNvSpPr/>
          <p:nvPr/>
        </p:nvSpPr>
        <p:spPr>
          <a:xfrm>
            <a:off x="1530125" y="4945732"/>
            <a:ext cx="7291278" cy="408902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55" y="4952384"/>
            <a:ext cx="395598" cy="395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1AED71-175D-40F0-A641-56ED0E97D1B3}"/>
              </a:ext>
            </a:extLst>
          </p:cNvPr>
          <p:cNvSpPr txBox="1"/>
          <p:nvPr/>
        </p:nvSpPr>
        <p:spPr>
          <a:xfrm>
            <a:off x="681010" y="1166059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클래스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Open Sans Extrabold" panose="020B0906030804020204" pitchFamily="34" charset="0"/>
              </a:rPr>
              <a:t>설계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33941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path" presetSubtype="0" accel="85000" decel="15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-0.00027 L 0.69114 -0.00055 C 0.87812 -0.00055 0.83316 0.21667 0.83316 0.39389 L 0.83316 0.78889 " pathEditMode="relative" rAng="0" ptsTypes="FfFF">
                                      <p:cBhvr>
                                        <p:cTn id="10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06" y="394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2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83316 0.78889 L 0.21111 0.79 C 0.03802 0.79 0.05937 0.85778 0.05937 0.91389 L 0.05937 1.03889 " pathEditMode="relative" rAng="0" ptsTypes="FfFF">
                                      <p:cBhvr>
                                        <p:cTn id="14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57" y="1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21600000">
                                      <p:cBhvr>
                                        <p:cTn id="16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766" y="2523675"/>
            <a:ext cx="667650" cy="6676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752" y="2523675"/>
            <a:ext cx="667650" cy="667650"/>
          </a:xfrm>
          <a:prstGeom prst="rect">
            <a:avLst/>
          </a:prstGeom>
        </p:spPr>
      </p:pic>
      <p:sp>
        <p:nvSpPr>
          <p:cNvPr id="2" name="모서리가 둥근 직사각형 1"/>
          <p:cNvSpPr/>
          <p:nvPr/>
        </p:nvSpPr>
        <p:spPr>
          <a:xfrm>
            <a:off x="2539752" y="2523675"/>
            <a:ext cx="4064496" cy="667650"/>
          </a:xfrm>
          <a:prstGeom prst="roundRect">
            <a:avLst>
              <a:gd name="adj" fmla="val 50000"/>
            </a:avLst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390011" y="2622312"/>
            <a:ext cx="2363980" cy="523220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THANK YOU</a:t>
            </a:r>
            <a:endParaRPr lang="en-US" altLang="ko-KR" sz="3600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-742900"/>
            <a:ext cx="509973" cy="50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9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path" presetSubtype="0" accel="1000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924 -0.00139 C -0.17552 -0.01806 -0.12587 -0.035 -0.10921 -0.035 C 0.00069 -0.035 0.11336 0.22305 0.11336 0.48166 C 0.11336 0.35111 0.16961 0.22305 0.22291 0.22305 C 0.27916 0.22305 0.33246 0.35305 0.33246 0.48166 C 0.33246 0.41694 0.36076 0.35111 0.38871 0.35111 C 0.41684 0.35111 0.44496 0.41555 0.44496 0.48166 C 0.44496 0.44778 0.45868 0.41694 0.47291 0.41694 C 0.48715 0.41694 0.50104 0.45028 0.50104 0.48166 C 0.50104 0.46472 0.57951 0.34305 0.66284 0.40139 C 0.74618 0.45972 0.87448 0.70361 0.9118 0.81805 " pathEditMode="relative" rAng="0" ptsTypes="fffffffffsf">
                                      <p:cBhvr>
                                        <p:cTn id="13" dur="5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52" y="39278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8" presetClass="emph" presetSubtype="0" repeatCount="indefinite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177</Words>
  <Application>Microsoft Office PowerPoint</Application>
  <PresentationFormat>화면 슬라이드 쇼(16:10)</PresentationFormat>
  <Paragraphs>57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Arial</vt:lpstr>
      <vt:lpstr>나눔스퀘어 Bold</vt:lpstr>
      <vt:lpstr>Open Sans Extrabold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HANS</dc:creator>
  <cp:lastModifiedBy>김필중</cp:lastModifiedBy>
  <cp:revision>31</cp:revision>
  <dcterms:created xsi:type="dcterms:W3CDTF">2017-11-08T05:40:26Z</dcterms:created>
  <dcterms:modified xsi:type="dcterms:W3CDTF">2021-12-10T06:57:55Z</dcterms:modified>
</cp:coreProperties>
</file>